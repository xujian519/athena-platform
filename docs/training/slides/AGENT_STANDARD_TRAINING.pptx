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Agent统一接口标准培训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F6F6"/>
                </a:solidFill>
              </a:rPr>
              <a:t>Athena平台 Agent开发指南 v1.0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B8"/>
                </a:solidFill>
              </a:rPr>
              <a:t>2026-04-21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D2F68"/>
                </a:solidFill>
              </a:rPr>
              <a:t>培训目录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B24"/>
                </a:solidFill>
              </a:rPr>
              <a:t>1. 模块1：Agent基础概念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B24"/>
                </a:solidFill>
              </a:rPr>
              <a:t>2. 模块2：核心接口详解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B24"/>
                </a:solidFill>
              </a:rPr>
              <a:t>3. 模块3：Agent开发实践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B24"/>
                </a:solidFill>
              </a:rPr>
              <a:t>4. 模块4：测试与验证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1B24"/>
                </a:solidFill>
              </a:rPr>
              <a:t>5. 模块5：最佳实践与常见问题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2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模块1：Agent基础概念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1.1 什么是Agent？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Agent是Athena平台的</a:t>
            </a:r>
            <a:pPr indent="0" marL="0">
              <a:buNone/>
            </a:pPr>
            <a:r>
              <a:rPr lang="en-US" sz="2000" dirty="0">
                <a:solidFill>
                  <a:srgbClr val="B165FB"/>
                </a:solidFill>
              </a:rPr>
              <a:t>基本执行单元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核心特征：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1B24"/>
                </a:solidFill>
              </a:rPr>
              <a:t>✅ 自主性：可以独立执行任务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1B24"/>
                </a:solidFill>
              </a:rPr>
              <a:t>✅ 能力描述：能够描述自己的能力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1B24"/>
                </a:solidFill>
              </a:rPr>
              <a:t>✅ 标准化接口：遵循统一的接口标准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81B24"/>
                </a:solidFill>
              </a:rPr>
              <a:t>✅ 可组合性：可以组合成工作流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1.2 Agent与平台的关系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核心Agent：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695B"/>
                </a:solidFill>
              </a:rPr>
              <a:t>小娜·天秤女神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- 法律专家Agent，负责专利分析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695B"/>
                </a:solidFill>
              </a:rPr>
              <a:t>小诺·双鱼公主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- 协调者Agent，负责任务编排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695B"/>
                </a:solidFill>
              </a:rPr>
              <a:t>云熙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- IP管理Agent，负责客户关系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1.3 为什么要统一Agent接口？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8"/>
                </a:solidFill>
              </a:rPr>
              <a:t>一致性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所有Agent行为一致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0E8F8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8"/>
                </a:solidFill>
              </a:rPr>
              <a:t>可测试性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接口清晰便于测试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8"/>
                </a:solidFill>
              </a:rPr>
              <a:t>可维护性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代码结构统一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19456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0E8F8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8"/>
                </a:solidFill>
              </a:rPr>
              <a:t>可扩展性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易于添加新Agent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E8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8"/>
                </a:solidFill>
              </a:rPr>
              <a:t>可组合性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易于组合成工作流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1.4 Agent生命周期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822960"/>
          </a:xfrm>
          <a:prstGeom prst="roundRect">
            <a:avLst/>
          </a:prstGeom>
          <a:solidFill>
            <a:srgbClr val="40695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初始化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B24"/>
                </a:solidFill>
              </a:rPr>
              <a:t>__init__ → _initialize()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</a:rPr>
              <a:t>注册能力、初始化LLM、加载配置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371600" cy="822960"/>
          </a:xfrm>
          <a:prstGeom prst="roundRect">
            <a:avLst/>
          </a:prstGeom>
          <a:solidFill>
            <a:srgbClr val="40695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48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执行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B24"/>
                </a:solidFill>
              </a:rPr>
              <a:t>execute(context)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</a:rPr>
              <a:t>验证输入、处理任务、返回结果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371600" cy="822960"/>
          </a:xfrm>
          <a:prstGeom prst="roundRect">
            <a:avLst/>
          </a:prstGeom>
          <a:solidFill>
            <a:srgbClr val="40695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清理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B24"/>
                </a:solidFill>
              </a:rPr>
              <a:t>cleanup()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7B8"/>
                </a:solidFill>
              </a:rPr>
              <a:t>释放资源、保存状态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1.5 Agent类型分类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65FB"/>
                </a:solidFill>
              </a:rPr>
              <a:t>检索型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示例: RetrieverAgent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</a:rPr>
              <a:t>检索专利、论文、案例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65FB"/>
                </a:solidFill>
              </a:rPr>
              <a:t>分析型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示例: AnalyzerAgent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</a:rPr>
              <a:t>分析专利、法律问题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65FB"/>
                </a:solidFill>
              </a:rPr>
              <a:t>撰写型 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示例: WriterAgent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</a:rPr>
              <a:t>撰写文档、报告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10312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65FB"/>
                </a:solidFill>
              </a:rPr>
              <a:t>协调型 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423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示例: XiaonuoAgent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606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</a:rPr>
              <a:t>协调其他Agent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06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模块1：关键要点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Agent是平台的基本执行单元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统一接口带来一致性和可维护性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Agent有明确的生命周期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不同类型Agent承担不同职责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2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模块2：核心接口详解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2.1 BaseAgent核心接口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必须实现的抽象方法：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548640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8"/>
                </a:solidFill>
              </a:rPr>
              <a:t>_initialize()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Agent初始化钩子，注册能力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680960" cy="548640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8"/>
                </a:solidFill>
              </a:rPr>
              <a:t>execute(context)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执行Agent任务，返回结果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7680960" cy="548640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97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8"/>
                </a:solidFill>
              </a:rPr>
              <a:t>get_system_prompt()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697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获取系统提示词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2.2 AgentCapability - 能力描述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能力描述数据结构：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name: str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能力名称，如"patent_search"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description: str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能力详细描述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input_types: List[str]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支持的输入类型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output_types: List[str]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输出类型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estimated_time: float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预估执行时间（秒）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2.3 AgentExecutionContext - 执行上下文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执行上下文字段：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898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8"/>
                </a:solidFill>
              </a:rPr>
              <a:t>session_id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3898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会话ID，标识用户会话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F4ECF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38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8"/>
                </a:solidFill>
              </a:rPr>
              <a:t>task_id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9385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任务ID，标识具体任务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87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8"/>
                </a:solidFill>
              </a:rPr>
              <a:t>input_data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4871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输入数据字典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F4EC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358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8"/>
                </a:solidFill>
              </a:rPr>
              <a:t>config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30358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配置参数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844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F68"/>
                </a:solidFill>
              </a:rPr>
              <a:t>metadata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5844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元数据信息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2.4 AgentExecutionResult - 执行结果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执行结果字段：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agent_id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Agent唯一标识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status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783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执行状态（IDLE/BUSY/ERROR/COMPLETED）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output_data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输出数据字典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error_message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606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错误信息（如果有）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execution_time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执行时间（秒）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429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metadata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429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元数据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2.5 AgentStatus - 状态枚举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48640"/>
          </a:xfrm>
          <a:prstGeom prst="roundRect">
            <a:avLst>
              <a:gd name="adj" fmla="val 8333"/>
            </a:avLst>
          </a:prstGeom>
          <a:solidFill>
            <a:srgbClr val="F0F0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B7B8"/>
                </a:solidFill>
              </a:rPr>
              <a:t>IDLE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空闲，等待任务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7680960" cy="548640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BUSY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1874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忙碌，正在执行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7680960" cy="548640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COMPLETED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完成，任务成功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548640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ERROR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错误，执行失败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2.6 能力管理接口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40080"/>
          </a:xfrm>
          <a:prstGeom prst="roundRect">
            <a:avLst>
              <a:gd name="adj" fmla="val 7143"/>
            </a:avLst>
          </a:prstGeom>
          <a:solidFill>
            <a:srgbClr val="E8F8F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695B"/>
                </a:solidFill>
              </a:rPr>
              <a:t>_register_capabilities(capabilities)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注册Agent能力列表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7680960" cy="640080"/>
          </a:xfrm>
          <a:prstGeom prst="roundRect">
            <a:avLst>
              <a:gd name="adj" fmla="val 7143"/>
            </a:avLst>
          </a:prstGeom>
          <a:solidFill>
            <a:srgbClr val="E8F8F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695B"/>
                </a:solidFill>
              </a:rPr>
              <a:t>get_capabilities()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获取所有能力列表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7680960" cy="640080"/>
          </a:xfrm>
          <a:prstGeom prst="roundRect">
            <a:avLst>
              <a:gd name="adj" fmla="val 7143"/>
            </a:avLst>
          </a:prstGeom>
          <a:solidFill>
            <a:srgbClr val="E8F8F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97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695B"/>
                </a:solidFill>
              </a:rPr>
              <a:t>has_capability(name)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检查是否具备某项能力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2.7 输入验证接口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validate_input() 方法：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验证项目：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• session_id存在性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• task_id存在性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• 业务字段有效性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• 数据类型正确性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• 数据长度限制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7B8"/>
                </a:solidFill>
              </a:rPr>
              <a:t>返回：bool - 验证通过返回True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2.8 信息获取接口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get_info() 方法：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返回Agent信息字典：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agent_id: Agent唯一标识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agent_type: Agent类型（类名）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status: 当前状态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capabilities: 能力列表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config: 配置参数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06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模块2：关键要点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必须实现_initialize、execute、get_system_prompt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使用AgentCapability描述能力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通过ExecutionContext传递数据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返回AgentExecutionResult包含状态和结果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D2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模块3：Agent开发实践</a:t>
            </a:r>
            <a:endParaRPr lang="en-US" sz="4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3.1 创建Agent的5步法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EBF5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070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8"/>
                </a:solidFill>
              </a:rPr>
              <a:t>Step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11680" y="12070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继承BaseXiaonaComponent基类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F4EC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642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8"/>
                </a:solidFill>
              </a:rPr>
              <a:t>Step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16642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实现_initialize()注册能力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EBF5F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214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8"/>
                </a:solidFill>
              </a:rPr>
              <a:t>Step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1214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实现execute()处理任务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F4ECF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786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8"/>
                </a:solidFill>
              </a:rPr>
              <a:t>Step 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11680" y="25786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实现get_system_prompt()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EBF5F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358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F68"/>
                </a:solidFill>
              </a:rPr>
              <a:t>Step 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30358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B24"/>
                </a:solidFill>
              </a:rPr>
              <a:t>编写测试用例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3.2 Agent类框架示例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MyAgent(BaseXiaonaComponent):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_initialize(self) -&gt; None: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1790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self._register_capabilities([...])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7393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def execute(self, context) -&gt; AgentExecutionResult: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处理任务逻辑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420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AgentExecutionResult(...)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980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5409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get_system_prompt(self) -&gt; str: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101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"你是..."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3.3 注册能力示例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_initialize(self) -&gt; None: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self._register_capabilities([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51790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AgentCapability(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7393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name="patent_search",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description="在专利数据库中检索相关专利",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input_types=["查询关键词", "技术领域"],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420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output_types=["专利列表"],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980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estimated_time=15.0,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05409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3101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3.4 execute方法示例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execute(self, context) -&gt; AgentExecutionResult: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4358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验证输入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self.validate_input(context):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5681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AgentExecutionResult(status=AgentStatus.ERROR, ...)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43230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处理任务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70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await self._do_work(context.input_data)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077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4553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返回成功结果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AgentExecutionResult(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62102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status=AgentStatus.COMPLETED,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587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output_data=result,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0965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33425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 as e: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AgentExecutionResult(status=AgentStatus.ERROR, ...)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3.5 在Agent中调用LLM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初始化LLM：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core.llm.unified_llm_manager import UnifiedLLMManager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self.llm = UnifiedLLMManager()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调用LLM：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await self.llm.generate(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prompt=prompt,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system_prompt=self.get_system_prompt(),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model="kimi-k2.5",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3.6 在Agent中使用工具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获取工具注册表：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core.tools.unified_registry import get_unified_registry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self.tool_registry = get_unified_registry()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调用工具：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= self.tool_registry.get("patent_search")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await tool.function(query="...", database="cnipa")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3.7 处理前序Agent结果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获取前序Agent的结果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4358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previous_results = context.input_data.get("previous_results", {})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使用前序结果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5681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"retriever" in previous_results: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patents = previous_results["retriever"]["patents"]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43230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使用检索结果进行分析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700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await self._analyze_patents(patents)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077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14553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不使用前序结果，独立执行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await self._do_work(context.input_data["user_input"])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3.8 错误处理最佳实践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FEF5E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捕获所有异常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使用try-except包裹所有可能失败的代码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91440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FEF5E7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返回错误结果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返回带ERROR状态的AgentExecutionResult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FEF5E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记录详细日志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使用logger.exception记录异常堆栈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73736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FEF5E7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提供清晰错误信息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error_message应描述问题原因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3.9 日志记录指南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4114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695B"/>
                </a:solidFill>
              </a:rPr>
              <a:t>INFO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self.logger.info(f"开始执行: {task_id}")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4114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AB7B8"/>
                </a:solidFill>
              </a:rPr>
              <a:t>DEBUG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self.logger.debug(f"输入数据: {input}")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7680960" cy="4114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</a:rPr>
              <a:t>WARNING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self.logger.warning(f"结果较少: {count}")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286000"/>
            <a:ext cx="7680960" cy="4114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77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ERROR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377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self.logger.error(f"任务失败: {error}")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7680960" cy="41148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EXCEPTION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8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self.logger.exception(f"执行异常")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06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模块3：关键要点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5步创建Agent：继承→初始化→执行→提示词→测试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在_initialize中注册能力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在execute中处理任务并返回结果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做好错误处理和日志记录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D2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模块4：测试与验证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4.1 测试类型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731520"/>
          </a:xfrm>
          <a:prstGeom prst="roundRect">
            <a:avLst>
              <a:gd name="adj" fmla="val 6250"/>
            </a:avLst>
          </a:prstGeom>
          <a:solidFill>
            <a:srgbClr val="EBF5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F68"/>
                </a:solidFill>
              </a:rPr>
              <a:t>单元测试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测试单个方法功能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1051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-m unit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7680960" cy="731520"/>
          </a:xfrm>
          <a:prstGeom prst="roundRect">
            <a:avLst>
              <a:gd name="adj" fmla="val 6250"/>
            </a:avLst>
          </a:prstGeom>
          <a:solidFill>
            <a:srgbClr val="E8F8F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74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F68"/>
                </a:solidFill>
              </a:rPr>
              <a:t>集成测试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测试Agent与其他组件协作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1874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-m integration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7680960" cy="731520"/>
          </a:xfrm>
          <a:prstGeom prst="roundRect">
            <a:avLst>
              <a:gd name="adj" fmla="val 6250"/>
            </a:avLst>
          </a:prstGeom>
          <a:solidFill>
            <a:srgbClr val="EBF5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97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F68"/>
                </a:solidFill>
              </a:rPr>
              <a:t>端到端测试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1B24"/>
                </a:solidFill>
              </a:rPr>
              <a:t>测试完整工作流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2697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-m e2e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4.2 单元测试示例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@pytest.mark.asyncio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1615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test_execute_success():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264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"""测试正常执行"""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3677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 = MyAgent(agent_id="test_agent")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 = AgentExecutionContext(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session_id="SESSION_001",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677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task_id="TASK_001",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7802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input_data={"user_input": "test"},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8833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config={},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8986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metadata={},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3192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await agent.execute(context)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52958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result.status == AgentStatus.COMPLETED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73989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result.output_data is not None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4.3 模拟LLM响应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unittest.mock import AsyncMock, patch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21615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2646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@pytest.mark.asyncio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3677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test_with_mocked_llm():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 = MyAgent(agent_id="test_agent")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26771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Mock LLM响应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7802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patch.object(agent.llm, 'generate',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8833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new_callable=AsyncMock) as mock_llm: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89864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mock_llm.return_value = '{"result": "mocked"}'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3192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await agent.execute(context)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52958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 result.output_data["result"] == "mocked"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4.4 测试覆盖率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生成覆盖率报告：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45720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--cov=core.agents.my_agent --cov-report=html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覆盖率目标：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680960" cy="320040"/>
          </a:xfrm>
          <a:prstGeom prst="roundRect">
            <a:avLst>
              <a:gd name="adj" fmla="val 14286"/>
            </a:avLst>
          </a:prstGeom>
          <a:solidFill>
            <a:srgbClr val="D5F4E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762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B24"/>
                </a:solidFill>
              </a:rPr>
              <a:t>核心模块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1762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&gt;80%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320040"/>
          </a:xfrm>
          <a:prstGeom prst="roundRect">
            <a:avLst>
              <a:gd name="adj" fmla="val 14286"/>
            </a:avLst>
          </a:prstGeom>
          <a:solidFill>
            <a:srgbClr val="FFEAA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420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B24"/>
                </a:solidFill>
              </a:rPr>
              <a:t>整体项目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5420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&gt;70%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4.5 接口合规性检查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使用InterfaceComplianceChecker：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tests.agents.test_interface_compliance_simple import InterfaceComplianceChecker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49047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test_compliance():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91109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 = MyAgent(agent_id="test")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checker = InterfaceComplianceChecker()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= checker.check_agent_instance(agent)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54203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75234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打印结果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96265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result in results["passed"]: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172968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print(f"✅ {result['check']}")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result in results["failed"]: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593592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print(f"❌ {result['check']}")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803904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014216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len(results["failed"]) == 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06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模块4：关键要点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使用pytest进行单元测试和集成测试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使用Mock模拟LLM响应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目标覆盖率：核心&gt;80%，整体&gt;70%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使用InterfaceComplianceChecker检查合规性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D2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模块5：最佳实践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5.1 能力设计原则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E8F8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✓ 单一职责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一个能力做一件事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91440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E8F8F5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✓ 清晰命名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使用动词+名词，如patent_search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E8F8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✓ 合理估算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基于实际测试预估时间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73736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E8F8F5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695B"/>
                </a:solidFill>
              </a:rPr>
              <a:t>✓ 明确输入输出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清楚描述支持的类型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5.2 错误处理最佳实践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捕获所有异常并返回错误结果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让异常向上传播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记录详细的错误日志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只记录简单的错误消息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提供清晰的错误信息给用户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暴露技术栈信息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5.3 性能优化技巧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FEF9E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使用异步操作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async/await避免阻塞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91440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FEF9E7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并行执行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使用asyncio.gather并行处理独立任务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FEF9E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缓存响应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缓存LLM响应减少重复调用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73736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FEF9E7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限制并发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控制并发数量避免资源耗尽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5.4 常见错误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411480"/>
          </a:xfrm>
          <a:prstGeom prst="roundRect">
            <a:avLst>
              <a:gd name="adj" fmla="val 6667"/>
            </a:avLst>
          </a:prstGeom>
          <a:solidFill>
            <a:srgbClr val="FADB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忘记注册能力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→ 在_initialize中调用_register_capabilities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411480"/>
          </a:xfrm>
          <a:prstGeom prst="roundRect">
            <a:avLst>
              <a:gd name="adj" fmla="val 6667"/>
            </a:avLst>
          </a:prstGeom>
          <a:solidFill>
            <a:srgbClr val="FADBD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未验证输入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→ 实现validate_input方法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7680960" cy="411480"/>
          </a:xfrm>
          <a:prstGeom prst="roundRect">
            <a:avLst>
              <a:gd name="adj" fmla="val 6667"/>
            </a:avLst>
          </a:prstGeom>
          <a:solidFill>
            <a:srgbClr val="FADBD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返回异常而非结果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→ 捕获异常并返回ERROR状态结果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286000"/>
            <a:ext cx="7680960" cy="411480"/>
          </a:xfrm>
          <a:prstGeom prst="roundRect">
            <a:avLst>
              <a:gd name="adj" fmla="val 6667"/>
            </a:avLst>
          </a:prstGeom>
          <a:solidFill>
            <a:srgbClr val="FADBD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77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缺少日志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377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→ 使用self.logger记录关键操作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7680960" cy="411480"/>
          </a:xfrm>
          <a:prstGeom prst="roundRect">
            <a:avLst>
              <a:gd name="adj" fmla="val 6667"/>
            </a:avLst>
          </a:prstGeom>
          <a:solidFill>
            <a:srgbClr val="FADBD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同步调用异步方法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2834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1B24"/>
                </a:solidFill>
              </a:rPr>
              <a:t>→ 使用await调用异步方法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F68"/>
                </a:solidFill>
              </a:rPr>
              <a:t>5.5 Agent部署流程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40695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📁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放置代码到core/agents/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40695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📝 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注册Agent到AgentRegistry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40695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🧪 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运行测试验证功能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40695B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554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🔄 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6656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重启平台服务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D2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培训总结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Agent是平台的基本执行单元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统一接口确保一致性和可维护性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5步创建Agent：继承→初始化→执行→提示词→测试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完整的测试覆盖和合规性检查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✓ 遵循最佳实践避免常见错误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069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谢谢！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4F6F6"/>
                </a:solidFill>
              </a:rPr>
              <a:t>Q&amp;A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参考文档：docs/guides/AGENT_*.md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Agent统一接口标准培训</dc:title>
  <dc:subject>Agent开发培训</dc:subject>
  <dc:creator>Athena平台</dc:creator>
  <cp:lastModifiedBy>Athena平台</cp:lastModifiedBy>
  <cp:revision>1</cp:revision>
  <dcterms:created xsi:type="dcterms:W3CDTF">2026-04-21T11:05:55Z</dcterms:created>
  <dcterms:modified xsi:type="dcterms:W3CDTF">2026-04-21T11:05:55Z</dcterms:modified>
</cp:coreProperties>
</file>